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78" r:id="rId4"/>
    <p:sldId id="266" r:id="rId5"/>
    <p:sldId id="267" r:id="rId6"/>
    <p:sldId id="268" r:id="rId7"/>
    <p:sldId id="269" r:id="rId8"/>
    <p:sldId id="270" r:id="rId9"/>
    <p:sldId id="271" r:id="rId10"/>
    <p:sldId id="272" r:id="rId11"/>
    <p:sldId id="273" r:id="rId12"/>
    <p:sldId id="274" r:id="rId13"/>
    <p:sldId id="280" r:id="rId14"/>
    <p:sldId id="275" r:id="rId15"/>
    <p:sldId id="279" r:id="rId16"/>
    <p:sldId id="276" r:id="rId17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CCFF"/>
    <a:srgbClr val="00FFFF"/>
    <a:srgbClr val="0B1423"/>
    <a:srgbClr val="0E1E2D"/>
    <a:srgbClr val="0D15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5" d="100"/>
          <a:sy n="85" d="100"/>
        </p:scale>
        <p:origin x="342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48A3BC-A2A9-4AF2-859B-7C5E966DF741}" type="datetimeFigureOut">
              <a:rPr lang="zh-TW" altLang="en-US" smtClean="0"/>
              <a:t>2026/4/16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6F50F68-E9E7-4BC1-B527-560F3585FD1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599128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F50F68-E9E7-4BC1-B527-560F3585FD1B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373009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6C91870-BC5F-05B4-E9C1-7123E6E74E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5DE222A5-1F36-FA60-6F61-10FB826963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2C72F72-CF20-73F2-4851-5849DC9395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E7259-4CE4-4FEC-BE06-AE2B845FD034}" type="datetimeFigureOut">
              <a:rPr lang="zh-TW" altLang="en-US" smtClean="0"/>
              <a:t>2026/4/16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8B9A724-5278-3685-E679-5B6790930B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DA9387A-8ACA-F0DD-B248-944E7475A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84DBF-E194-4A84-B61C-AA99D7660EB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05269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50F6BF8-0326-F245-9026-7A06FCD44A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29E4DD2-0F9C-2644-DACA-6D6E192CAF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07B5383-8322-C72F-E1BF-05A2E82133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E7259-4CE4-4FEC-BE06-AE2B845FD034}" type="datetimeFigureOut">
              <a:rPr lang="zh-TW" altLang="en-US" smtClean="0"/>
              <a:t>2026/4/16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A2397F3-BC3C-7E79-EC93-1ADEEBB611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FE22672-CAEB-1776-0F9A-0A68678459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84DBF-E194-4A84-B61C-AA99D7660EB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657211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0BA1D9E-AB13-2DDD-A744-C9F4D154F4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9689C887-392D-C963-962F-437BC6E45B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0CBA3B0-B545-407D-29CC-5333FF1E12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E7259-4CE4-4FEC-BE06-AE2B845FD034}" type="datetimeFigureOut">
              <a:rPr lang="zh-TW" altLang="en-US" smtClean="0"/>
              <a:t>2026/4/16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A9D105E-54F2-93DA-EFCC-BD64CE690B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E0FFD50-D9F5-FA78-6A52-471E00744A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84DBF-E194-4A84-B61C-AA99D7660EB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909460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231A23D-CB52-E907-A8D6-E78146D32D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CAB5726-07EC-4566-6577-24CEE69EBD5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CCF0F293-335C-20AE-A0B9-AA9F324F21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D7C82749-0F7B-4050-345B-91D32F12C7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E7259-4CE4-4FEC-BE06-AE2B845FD034}" type="datetimeFigureOut">
              <a:rPr lang="zh-TW" altLang="en-US" smtClean="0"/>
              <a:t>2026/4/16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327FA7FE-B926-364E-932F-6450467FCD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FABEECFC-7E63-BFC1-20DF-B30446BB1F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84DBF-E194-4A84-B61C-AA99D7660EB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694125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D7B5C61-89C2-DFA1-7A61-08BEE9A9A5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F0CAC97F-9237-CDA9-07A7-6C0A465C86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3948B24B-84C1-5EE5-BDCC-66F49A6AE5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DB008A98-B728-541B-63D4-CD6368C2410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09E44BA4-BC17-AA03-8D97-77CE7F811C3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1FCCFD57-0E16-96D4-2589-EDFB6D1062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E7259-4CE4-4FEC-BE06-AE2B845FD034}" type="datetimeFigureOut">
              <a:rPr lang="zh-TW" altLang="en-US" smtClean="0"/>
              <a:t>2026/4/16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FFB2B650-13E2-AD05-C76C-17414DDF13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A8FF3925-B7F7-7204-82FD-D805444607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84DBF-E194-4A84-B61C-AA99D7660EB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762410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A73AC9B-78B3-EC1B-62CE-027704048B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CACB03A0-D30F-45DC-0D6B-73208664FE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E7259-4CE4-4FEC-BE06-AE2B845FD034}" type="datetimeFigureOut">
              <a:rPr lang="zh-TW" altLang="en-US" smtClean="0"/>
              <a:t>2026/4/16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5505BDCD-B39A-466F-49C4-7F28C0A8EB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4EADFBAD-8538-1E9C-32B4-1F87A30DD2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84DBF-E194-4A84-B61C-AA99D7660EB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008271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E2FB5728-2A30-8107-4AC2-D0004E325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E7259-4CE4-4FEC-BE06-AE2B845FD034}" type="datetimeFigureOut">
              <a:rPr lang="zh-TW" altLang="en-US" smtClean="0"/>
              <a:t>2026/4/16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EDB5FCAE-ADAB-BFAE-66E1-69DDE85EB1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D5C454E-64D8-C287-B7EC-3CC0228475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84DBF-E194-4A84-B61C-AA99D7660EB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403526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0934CAE-E746-4DF4-89DD-E34FDDBC00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6421AF8-75CA-C406-26E1-7BAFE0F851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E1762062-014A-5EE6-A4ED-89895472D1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DB02499A-91FC-3F8A-55E0-5C4E412D9B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E7259-4CE4-4FEC-BE06-AE2B845FD034}" type="datetimeFigureOut">
              <a:rPr lang="zh-TW" altLang="en-US" smtClean="0"/>
              <a:t>2026/4/16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B6962986-F1C5-AD6C-BF19-0D7D5DB4F4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0979FC90-752C-6297-3BB4-2CFFF77B7A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84DBF-E194-4A84-B61C-AA99D7660EB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157402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B3943E5-EF1B-002D-3842-F91E13462A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F65AA1E0-9E2A-6050-E175-9C8D4BCADE1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47E12D9A-BDF5-DA1A-A52F-519E1B693F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EEE62B1B-49AB-9731-4934-D9FEE3034F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E7259-4CE4-4FEC-BE06-AE2B845FD034}" type="datetimeFigureOut">
              <a:rPr lang="zh-TW" altLang="en-US" smtClean="0"/>
              <a:t>2026/4/16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3CF9F78B-2C43-F3B8-C88D-1D7757E40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3F71CCD1-27E3-9C8B-C7AD-A749708394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84DBF-E194-4A84-B61C-AA99D7660EB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828583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A308256-1AED-CB68-045A-DB66994220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94069D0F-80CE-BAC9-DCA8-B02464045D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3327B6B-8C8D-5565-8405-C3F47E83A8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E7259-4CE4-4FEC-BE06-AE2B845FD034}" type="datetimeFigureOut">
              <a:rPr lang="zh-TW" altLang="en-US" smtClean="0"/>
              <a:t>2026/4/16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FCCCC7A-9090-B204-7324-2BBFEB6391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BE6CCF3-6C22-C885-C222-3BDBA61B19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84DBF-E194-4A84-B61C-AA99D7660EB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085473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560BDF07-6F1C-49D8-669A-100C5BB832F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CC981345-0F9F-54C4-9F59-532984C59A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9DB6FE5-5FE5-8ECA-BFC1-0E45F6A83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E7259-4CE4-4FEC-BE06-AE2B845FD034}" type="datetimeFigureOut">
              <a:rPr lang="zh-TW" altLang="en-US" smtClean="0"/>
              <a:t>2026/4/16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3AA46EC-0B7B-ECC0-05DF-5DB8B25849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FA27230-CA56-1E53-FBAD-2ECD1B2AA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84DBF-E194-4A84-B61C-AA99D7660EB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391335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D535F892-FDE8-33C5-3FB6-C656CE7D51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AEAE94EB-186C-CF60-18B0-00F71D4863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D709DE0-3EFE-8325-58B7-382D398684F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4E7259-4CE4-4FEC-BE06-AE2B845FD034}" type="datetimeFigureOut">
              <a:rPr lang="zh-TW" altLang="en-US" smtClean="0"/>
              <a:t>2026/4/16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CC683EB-4048-A6E4-7745-DF1A70AA62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E955E54-A43B-8225-4B92-765A3CBE40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484DBF-E194-4A84-B61C-AA99D7660EB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115863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aggle.com/datasets/artermiloff/steam-games-dataset/data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zh.wikipedia.org/wiki/Valve" TargetMode="External"/><Relationship Id="rId4" Type="http://schemas.openxmlformats.org/officeDocument/2006/relationships/hyperlink" Target="https://zh.wikipedia.org/zh-tw/Stea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圖片 11">
            <a:extLst>
              <a:ext uri="{FF2B5EF4-FFF2-40B4-BE49-F238E27FC236}">
                <a16:creationId xmlns:a16="http://schemas.microsoft.com/office/drawing/2014/main" id="{4048EC05-EADA-B116-8A47-0895688364F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3" name="文字方塊 12">
            <a:extLst>
              <a:ext uri="{FF2B5EF4-FFF2-40B4-BE49-F238E27FC236}">
                <a16:creationId xmlns:a16="http://schemas.microsoft.com/office/drawing/2014/main" id="{0CBB74B0-DA31-213A-3F20-8EAC3D3CFA7C}"/>
              </a:ext>
            </a:extLst>
          </p:cNvPr>
          <p:cNvSpPr txBox="1"/>
          <p:nvPr/>
        </p:nvSpPr>
        <p:spPr>
          <a:xfrm>
            <a:off x="0" y="2438400"/>
            <a:ext cx="1219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4800" dirty="0">
                <a:solidFill>
                  <a:srgbClr val="00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Steam </a:t>
            </a:r>
            <a:r>
              <a:rPr lang="zh-TW" altLang="en-US" sz="4800" dirty="0">
                <a:solidFill>
                  <a:srgbClr val="00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全球遊戲市場分析專題</a:t>
            </a: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8BF46DFB-EBF5-23E5-4A6E-3A22F65E1EF0}"/>
              </a:ext>
            </a:extLst>
          </p:cNvPr>
          <p:cNvSpPr txBox="1"/>
          <p:nvPr/>
        </p:nvSpPr>
        <p:spPr>
          <a:xfrm>
            <a:off x="4782178" y="5434231"/>
            <a:ext cx="27238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>
                <a:solidFill>
                  <a:srgbClr val="00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專題製作及分析：鄭朝元</a:t>
            </a: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A700DAC3-E613-7879-D0F9-D3CE95AFD4DE}"/>
              </a:ext>
            </a:extLst>
          </p:cNvPr>
          <p:cNvSpPr txBox="1"/>
          <p:nvPr/>
        </p:nvSpPr>
        <p:spPr>
          <a:xfrm>
            <a:off x="4685998" y="3265438"/>
            <a:ext cx="282000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dirty="0">
                <a:solidFill>
                  <a:srgbClr val="00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(2003-2024)</a:t>
            </a:r>
            <a:endParaRPr lang="zh-TW" altLang="en-US" sz="3600" dirty="0">
              <a:solidFill>
                <a:srgbClr val="00FFFF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2844449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6F92F5E4-3776-C7B0-FEE3-A521BA00A2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B18A23BA-FC73-A594-60F5-489A1145CADA}"/>
              </a:ext>
            </a:extLst>
          </p:cNvPr>
          <p:cNvSpPr txBox="1"/>
          <p:nvPr/>
        </p:nvSpPr>
        <p:spPr>
          <a:xfrm>
            <a:off x="5490706" y="1524000"/>
            <a:ext cx="121058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4000" dirty="0">
                <a:solidFill>
                  <a:srgbClr val="00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動機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EE1E7222-61E1-C628-A4C9-1748D216E9B5}"/>
              </a:ext>
            </a:extLst>
          </p:cNvPr>
          <p:cNvSpPr txBox="1"/>
          <p:nvPr/>
        </p:nvSpPr>
        <p:spPr>
          <a:xfrm>
            <a:off x="2261924" y="2476500"/>
            <a:ext cx="7668152" cy="1132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sz="2400" dirty="0">
                <a:solidFill>
                  <a:srgbClr val="00CC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從小到大都在持續的接觸</a:t>
            </a:r>
            <a:r>
              <a:rPr lang="en-US" altLang="zh-TW" sz="2400" dirty="0">
                <a:solidFill>
                  <a:srgbClr val="00CC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PC</a:t>
            </a:r>
            <a:r>
              <a:rPr lang="zh-TW" altLang="en-US" sz="2400" dirty="0">
                <a:solidFill>
                  <a:srgbClr val="00CC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遊戲，因此對於現在經常使用的</a:t>
            </a:r>
            <a:r>
              <a:rPr lang="en-US" altLang="zh-TW" sz="2400" dirty="0">
                <a:solidFill>
                  <a:srgbClr val="00CC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STEAM</a:t>
            </a:r>
            <a:r>
              <a:rPr lang="zh-TW" altLang="en-US" sz="2400" dirty="0">
                <a:solidFill>
                  <a:srgbClr val="00CC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平台感到好奇，從而製作了這份分析報告。</a:t>
            </a:r>
          </a:p>
        </p:txBody>
      </p:sp>
    </p:spTree>
    <p:extLst>
      <p:ext uri="{BB962C8B-B14F-4D97-AF65-F5344CB8AC3E}">
        <p14:creationId xmlns:p14="http://schemas.microsoft.com/office/powerpoint/2010/main" val="3105612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29B7FD-EA06-9B04-D9FF-D511CC4BCD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E43FA913-E454-799C-7F3A-9C779A96D7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328301CF-4564-6E1B-96BF-599FC64263D0}"/>
              </a:ext>
            </a:extLst>
          </p:cNvPr>
          <p:cNvSpPr txBox="1"/>
          <p:nvPr/>
        </p:nvSpPr>
        <p:spPr>
          <a:xfrm>
            <a:off x="5490706" y="1524000"/>
            <a:ext cx="121058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4000" dirty="0">
                <a:solidFill>
                  <a:srgbClr val="00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背景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5F9F7DF4-0E71-1646-409B-5E06815F5AB6}"/>
              </a:ext>
            </a:extLst>
          </p:cNvPr>
          <p:cNvSpPr txBox="1"/>
          <p:nvPr/>
        </p:nvSpPr>
        <p:spPr>
          <a:xfrm>
            <a:off x="2261923" y="2476500"/>
            <a:ext cx="7943233" cy="16887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TW" sz="2400" dirty="0">
                <a:solidFill>
                  <a:srgbClr val="00CC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Valve</a:t>
            </a:r>
            <a:r>
              <a:rPr lang="zh-TW" altLang="en-US" sz="2400" dirty="0">
                <a:solidFill>
                  <a:srgbClr val="00CC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的創立者是</a:t>
            </a:r>
            <a:r>
              <a:rPr lang="en-US" altLang="zh-TW" sz="2400" dirty="0">
                <a:solidFill>
                  <a:srgbClr val="00CC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Gabe Logan Newell</a:t>
            </a:r>
            <a:r>
              <a:rPr lang="zh-TW" altLang="en-US" sz="2400" dirty="0">
                <a:solidFill>
                  <a:srgbClr val="00CC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及</a:t>
            </a:r>
            <a:r>
              <a:rPr lang="en-US" altLang="zh-TW" sz="2400" dirty="0">
                <a:solidFill>
                  <a:srgbClr val="00CC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Mike Harrington</a:t>
            </a:r>
          </a:p>
          <a:p>
            <a:pPr>
              <a:lnSpc>
                <a:spcPct val="150000"/>
              </a:lnSpc>
            </a:pPr>
            <a:r>
              <a:rPr lang="zh-TW" altLang="en-US" sz="2400" dirty="0">
                <a:solidFill>
                  <a:srgbClr val="00CC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而</a:t>
            </a:r>
            <a:r>
              <a:rPr lang="en-US" altLang="zh-TW" sz="2400" dirty="0">
                <a:solidFill>
                  <a:srgbClr val="00CC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Steam</a:t>
            </a:r>
            <a:r>
              <a:rPr lang="zh-TW" altLang="en-US" sz="2400" dirty="0">
                <a:solidFill>
                  <a:srgbClr val="00CC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則是由</a:t>
            </a:r>
            <a:r>
              <a:rPr lang="en-US" altLang="zh-TW" sz="2400" dirty="0">
                <a:solidFill>
                  <a:srgbClr val="00CC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Valve</a:t>
            </a:r>
            <a:r>
              <a:rPr lang="zh-TW" altLang="en-US" sz="2400" dirty="0">
                <a:solidFill>
                  <a:srgbClr val="00CC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開發 。平台經歷了從「人工嚴選」到「數據演算法推薦」的轉移。</a:t>
            </a:r>
          </a:p>
        </p:txBody>
      </p:sp>
    </p:spTree>
    <p:extLst>
      <p:ext uri="{BB962C8B-B14F-4D97-AF65-F5344CB8AC3E}">
        <p14:creationId xmlns:p14="http://schemas.microsoft.com/office/powerpoint/2010/main" val="20928630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942900-E13C-370C-3264-E7948366DD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0F5C274B-05F3-B016-5E16-02123F97D3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F3F24C56-65BF-E447-92D8-42B3EC228F43}"/>
              </a:ext>
            </a:extLst>
          </p:cNvPr>
          <p:cNvSpPr txBox="1"/>
          <p:nvPr/>
        </p:nvSpPr>
        <p:spPr>
          <a:xfrm>
            <a:off x="4977745" y="1524000"/>
            <a:ext cx="223651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4000" dirty="0">
                <a:solidFill>
                  <a:srgbClr val="00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資料獲取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5047E607-F08A-B013-E2C2-DDFEB889874A}"/>
              </a:ext>
            </a:extLst>
          </p:cNvPr>
          <p:cNvSpPr txBox="1"/>
          <p:nvPr/>
        </p:nvSpPr>
        <p:spPr>
          <a:xfrm>
            <a:off x="2261924" y="2476500"/>
            <a:ext cx="7668152" cy="1132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sz="2400" dirty="0">
                <a:solidFill>
                  <a:srgbClr val="00CC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從</a:t>
            </a:r>
            <a:r>
              <a:rPr lang="en-US" altLang="zh-TW" sz="2400" dirty="0" err="1">
                <a:solidFill>
                  <a:srgbClr val="00CC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kaggle</a:t>
            </a:r>
            <a:r>
              <a:rPr lang="zh-TW" altLang="en-US" sz="2400" dirty="0">
                <a:solidFill>
                  <a:srgbClr val="00CC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下載關於這次主題的</a:t>
            </a:r>
            <a:r>
              <a:rPr lang="en-US" altLang="zh-TW" sz="2400" dirty="0">
                <a:solidFill>
                  <a:srgbClr val="00CC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csv</a:t>
            </a:r>
            <a:r>
              <a:rPr lang="zh-TW" altLang="en-US" sz="2400" dirty="0">
                <a:solidFill>
                  <a:srgbClr val="00CC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，並且在</a:t>
            </a:r>
            <a:r>
              <a:rPr lang="en-US" altLang="zh-TW" sz="2400" dirty="0">
                <a:solidFill>
                  <a:srgbClr val="00CC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python</a:t>
            </a:r>
            <a:r>
              <a:rPr lang="zh-TW" altLang="en-US" sz="2400" dirty="0">
                <a:solidFill>
                  <a:srgbClr val="00CC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進行資料的清洗及擷取。</a:t>
            </a:r>
          </a:p>
        </p:txBody>
      </p:sp>
    </p:spTree>
    <p:extLst>
      <p:ext uri="{BB962C8B-B14F-4D97-AF65-F5344CB8AC3E}">
        <p14:creationId xmlns:p14="http://schemas.microsoft.com/office/powerpoint/2010/main" val="9099564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7928A0-A2F1-87A2-DB6B-76786549D6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D85EFCAD-3CFB-C8BC-8E90-1BBABDCF69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2B043C29-F607-7BCE-4B47-FB6B6C780514}"/>
              </a:ext>
            </a:extLst>
          </p:cNvPr>
          <p:cNvSpPr txBox="1"/>
          <p:nvPr/>
        </p:nvSpPr>
        <p:spPr>
          <a:xfrm>
            <a:off x="4977745" y="1524000"/>
            <a:ext cx="223651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4000" dirty="0">
                <a:solidFill>
                  <a:srgbClr val="00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資料清洗</a:t>
            </a: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27199567-ABFB-D7E5-6614-71E07447DB2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3127" y="2231886"/>
            <a:ext cx="5505745" cy="33728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2462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E7DC36-F6CB-D36E-2A2A-1E1C5F06AB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C1C8E310-1740-1C47-3F7B-00C3126A6B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BC8B181B-FF6F-28B9-1570-B399837B4305}"/>
              </a:ext>
            </a:extLst>
          </p:cNvPr>
          <p:cNvSpPr txBox="1"/>
          <p:nvPr/>
        </p:nvSpPr>
        <p:spPr>
          <a:xfrm>
            <a:off x="4977745" y="1524000"/>
            <a:ext cx="223651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4000" dirty="0">
                <a:solidFill>
                  <a:srgbClr val="00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資料清洗</a:t>
            </a: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A997ED87-7B6B-2D8C-C4F3-F798610D302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65190" y="2231886"/>
            <a:ext cx="6661619" cy="3434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99956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75EE94-A730-DABF-3FBB-63ECD9D89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736CA2FD-AF43-1BF6-10CB-B6F9027566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89814384-66B0-6735-E563-7D5A4622B34B}"/>
              </a:ext>
            </a:extLst>
          </p:cNvPr>
          <p:cNvSpPr txBox="1"/>
          <p:nvPr/>
        </p:nvSpPr>
        <p:spPr>
          <a:xfrm>
            <a:off x="4517298" y="1524000"/>
            <a:ext cx="315740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4000" dirty="0" err="1">
                <a:solidFill>
                  <a:srgbClr val="00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PowerBI</a:t>
            </a:r>
            <a:r>
              <a:rPr lang="zh-TW" altLang="en-US" sz="4000" dirty="0">
                <a:solidFill>
                  <a:srgbClr val="00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展示</a:t>
            </a: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8AE24A52-640D-8F7B-89A8-3A1DE762BE3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1101" y="2231886"/>
            <a:ext cx="6069797" cy="3402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06998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559EC3-5307-6F8B-ADAC-1ABB5CE9D1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7F237B2B-9059-9797-5727-11B9177766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11A831E2-9D89-189B-E983-445A0EDD4B07}"/>
              </a:ext>
            </a:extLst>
          </p:cNvPr>
          <p:cNvSpPr txBox="1"/>
          <p:nvPr/>
        </p:nvSpPr>
        <p:spPr>
          <a:xfrm>
            <a:off x="4517298" y="1524000"/>
            <a:ext cx="315740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4000" dirty="0" err="1">
                <a:solidFill>
                  <a:srgbClr val="00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PowerBI</a:t>
            </a:r>
            <a:r>
              <a:rPr lang="zh-TW" altLang="en-US" sz="4000" dirty="0">
                <a:solidFill>
                  <a:srgbClr val="00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展示</a:t>
            </a: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7F36C2BF-7F78-9373-18E3-E7D309FCED6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1100" y="2228374"/>
            <a:ext cx="6069797" cy="34058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00296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CDC727-C5F8-82D4-9ABF-FA4506076E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2BA859DC-B5DB-523D-163A-A64DC1111B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6F4F3E28-CDDF-0AB6-57CA-0539860484CC}"/>
              </a:ext>
            </a:extLst>
          </p:cNvPr>
          <p:cNvSpPr txBox="1"/>
          <p:nvPr/>
        </p:nvSpPr>
        <p:spPr>
          <a:xfrm>
            <a:off x="4517298" y="1524000"/>
            <a:ext cx="315740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4000" dirty="0" err="1">
                <a:solidFill>
                  <a:srgbClr val="00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PowerBI</a:t>
            </a:r>
            <a:r>
              <a:rPr lang="zh-TW" altLang="en-US" sz="4000" dirty="0">
                <a:solidFill>
                  <a:srgbClr val="00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展示</a:t>
            </a: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23E1C636-FD26-3D2E-0656-A3B5B0AA518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061100" y="2229818"/>
            <a:ext cx="6069797" cy="3402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07901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2E3A6C-1C8C-1CAB-7694-26B03E2BEE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64410478-C5EA-3CF2-4A24-E9A34689F9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5EEDA4C8-EAA3-8689-BF24-12B1EEE3A0A2}"/>
              </a:ext>
            </a:extLst>
          </p:cNvPr>
          <p:cNvSpPr txBox="1"/>
          <p:nvPr/>
        </p:nvSpPr>
        <p:spPr>
          <a:xfrm>
            <a:off x="4517298" y="1524000"/>
            <a:ext cx="315740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4000" dirty="0" err="1">
                <a:solidFill>
                  <a:srgbClr val="00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PowerBI</a:t>
            </a:r>
            <a:r>
              <a:rPr lang="zh-TW" altLang="en-US" sz="4000" dirty="0">
                <a:solidFill>
                  <a:srgbClr val="00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展示</a:t>
            </a: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43F1D34A-703F-687C-16F9-99FFE19B7FE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070105" y="2229818"/>
            <a:ext cx="6051786" cy="3402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27690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B867E1-730F-3AB3-4A6E-3E1331257F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CA88CB68-470F-4F95-7908-6B93A4CE52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0A2F43CC-ADF4-4FF9-CDA8-E052538D21AB}"/>
              </a:ext>
            </a:extLst>
          </p:cNvPr>
          <p:cNvSpPr txBox="1"/>
          <p:nvPr/>
        </p:nvSpPr>
        <p:spPr>
          <a:xfrm>
            <a:off x="4517298" y="1524000"/>
            <a:ext cx="315740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4000" dirty="0" err="1">
                <a:solidFill>
                  <a:srgbClr val="00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PowerBI</a:t>
            </a:r>
            <a:r>
              <a:rPr lang="zh-TW" altLang="en-US" sz="4000" dirty="0">
                <a:solidFill>
                  <a:srgbClr val="00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展示</a:t>
            </a: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6CCA5DA6-09C3-C577-1923-2417AC1A4D7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070825" y="2229818"/>
            <a:ext cx="6050347" cy="3402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06334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940BCC-0F37-7100-62D6-EE1E1BF36B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18D5424C-3CE8-9AA9-FB38-0429C6157A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C2BE8CF9-6F70-230A-18C7-C7C7BD661320}"/>
              </a:ext>
            </a:extLst>
          </p:cNvPr>
          <p:cNvSpPr txBox="1"/>
          <p:nvPr/>
        </p:nvSpPr>
        <p:spPr>
          <a:xfrm>
            <a:off x="4517298" y="1524000"/>
            <a:ext cx="315740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4000" dirty="0" err="1">
                <a:solidFill>
                  <a:srgbClr val="00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PowerBI</a:t>
            </a:r>
            <a:r>
              <a:rPr lang="zh-TW" altLang="en-US" sz="4000" dirty="0">
                <a:solidFill>
                  <a:srgbClr val="00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展示</a:t>
            </a: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FF8556CE-1271-FBEB-77EA-9AA9CCB7D4E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070825" y="2236399"/>
            <a:ext cx="6050347" cy="3389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76036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170BD4-F6DE-108F-58A9-D8D4A9444D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00B31C4E-8704-4904-0055-39303F1A1D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9B8ADAC5-36E4-E4A7-5619-C1BB2E770DE8}"/>
              </a:ext>
            </a:extLst>
          </p:cNvPr>
          <p:cNvSpPr txBox="1"/>
          <p:nvPr/>
        </p:nvSpPr>
        <p:spPr>
          <a:xfrm>
            <a:off x="4517298" y="1524000"/>
            <a:ext cx="315740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4000" dirty="0" err="1">
                <a:solidFill>
                  <a:srgbClr val="00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PowerBI</a:t>
            </a:r>
            <a:r>
              <a:rPr lang="zh-TW" altLang="en-US" sz="4000" dirty="0">
                <a:solidFill>
                  <a:srgbClr val="00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展示</a:t>
            </a: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5E6B7CD2-6B12-1C59-6EC8-5B29BA9D2BF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214685" y="2229818"/>
            <a:ext cx="5762625" cy="3402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89217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3F0480-F28A-A08D-B05E-6C84DE6807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73FD5318-EC4B-4C1D-2E45-349D55929A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4AD5EAEA-A346-69F1-CCD1-4DC2E8CC10FD}"/>
              </a:ext>
            </a:extLst>
          </p:cNvPr>
          <p:cNvSpPr txBox="1"/>
          <p:nvPr/>
        </p:nvSpPr>
        <p:spPr>
          <a:xfrm>
            <a:off x="5490706" y="1524000"/>
            <a:ext cx="121058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4000" dirty="0">
                <a:solidFill>
                  <a:srgbClr val="00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總結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989270A0-E00A-ADDE-2C90-82B41D85EA8C}"/>
              </a:ext>
            </a:extLst>
          </p:cNvPr>
          <p:cNvSpPr txBox="1"/>
          <p:nvPr/>
        </p:nvSpPr>
        <p:spPr>
          <a:xfrm>
            <a:off x="2261924" y="2476500"/>
            <a:ext cx="7668152" cy="22404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zh-TW" altLang="en-US" sz="2400" dirty="0">
                <a:solidFill>
                  <a:srgbClr val="00CC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獨立遊戲是目前</a:t>
            </a:r>
            <a:r>
              <a:rPr lang="en-US" altLang="zh-TW" sz="2400" dirty="0">
                <a:solidFill>
                  <a:srgbClr val="00CC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Steam</a:t>
            </a:r>
            <a:r>
              <a:rPr lang="zh-TW" altLang="en-US" sz="2400" dirty="0">
                <a:solidFill>
                  <a:srgbClr val="00CC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遊戲數量的最大宗</a:t>
            </a:r>
            <a:endParaRPr lang="en-US" altLang="zh-TW" sz="2400" dirty="0">
              <a:solidFill>
                <a:srgbClr val="00CCFF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zh-TW" altLang="en-US" sz="2400" dirty="0">
                <a:solidFill>
                  <a:srgbClr val="00CC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發行遊戲時間可以選擇在秋季特賣或是前一個月</a:t>
            </a:r>
            <a:endParaRPr lang="en-US" altLang="zh-TW" sz="2400" dirty="0">
              <a:solidFill>
                <a:srgbClr val="00CCFF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zh-TW" altLang="en-US" sz="2400" dirty="0">
                <a:solidFill>
                  <a:srgbClr val="00CC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預估總營收最高是落在</a:t>
            </a:r>
            <a:r>
              <a:rPr lang="en-US" altLang="zh-TW" sz="2400" dirty="0">
                <a:solidFill>
                  <a:srgbClr val="00CC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30.00-59.99</a:t>
            </a:r>
            <a:r>
              <a:rPr lang="zh-TW" altLang="en-US" sz="2400" dirty="0">
                <a:solidFill>
                  <a:srgbClr val="00CC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美元，</a:t>
            </a:r>
            <a:r>
              <a:rPr lang="en-US" altLang="zh-TW" sz="2400" dirty="0">
                <a:solidFill>
                  <a:srgbClr val="00CC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11-20</a:t>
            </a:r>
            <a:r>
              <a:rPr lang="zh-TW" altLang="en-US" sz="2400" dirty="0">
                <a:solidFill>
                  <a:srgbClr val="00CC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種的支援語言</a:t>
            </a:r>
          </a:p>
        </p:txBody>
      </p:sp>
    </p:spTree>
    <p:extLst>
      <p:ext uri="{BB962C8B-B14F-4D97-AF65-F5344CB8AC3E}">
        <p14:creationId xmlns:p14="http://schemas.microsoft.com/office/powerpoint/2010/main" val="42720478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9F45D3-88E3-8C6D-AE23-3337D56850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C3B63A09-8685-9056-D33D-582B129D83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B9DC044F-C35C-6825-1CFD-D3CD4935E740}"/>
              </a:ext>
            </a:extLst>
          </p:cNvPr>
          <p:cNvSpPr txBox="1"/>
          <p:nvPr/>
        </p:nvSpPr>
        <p:spPr>
          <a:xfrm>
            <a:off x="4977745" y="1524000"/>
            <a:ext cx="223651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4000" dirty="0">
                <a:solidFill>
                  <a:srgbClr val="00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額外分享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0CEA27C0-692F-6206-BABC-B2ECA2EA4CC8}"/>
              </a:ext>
            </a:extLst>
          </p:cNvPr>
          <p:cNvSpPr txBox="1"/>
          <p:nvPr/>
        </p:nvSpPr>
        <p:spPr>
          <a:xfrm>
            <a:off x="2261924" y="2476500"/>
            <a:ext cx="7668152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zh-TW" sz="2000" dirty="0" err="1">
                <a:solidFill>
                  <a:srgbClr val="00CC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S&amp;box</a:t>
            </a:r>
            <a:r>
              <a:rPr lang="en-US" altLang="zh-TW" sz="2000" dirty="0">
                <a:solidFill>
                  <a:srgbClr val="00CC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sz="2000" dirty="0">
                <a:solidFill>
                  <a:srgbClr val="00CC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沙盒創作平台</a:t>
            </a:r>
            <a:r>
              <a:rPr lang="en-US" altLang="zh-TW" sz="2000" dirty="0">
                <a:solidFill>
                  <a:srgbClr val="00CC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r>
              <a:rPr lang="zh-TW" altLang="en-US" sz="2000" dirty="0">
                <a:solidFill>
                  <a:srgbClr val="00CC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是基於 </a:t>
            </a:r>
            <a:r>
              <a:rPr lang="en-US" altLang="zh-TW" sz="2000" dirty="0">
                <a:solidFill>
                  <a:srgbClr val="00CC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Source 2 </a:t>
            </a:r>
            <a:r>
              <a:rPr lang="zh-TW" altLang="en-US" sz="2000" dirty="0">
                <a:solidFill>
                  <a:srgbClr val="00CC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引擎構建，允許創作者直接從</a:t>
            </a:r>
            <a:r>
              <a:rPr lang="en-US" altLang="zh-TW" sz="2000" dirty="0" err="1">
                <a:solidFill>
                  <a:srgbClr val="00CC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S&amp;box</a:t>
            </a:r>
            <a:r>
              <a:rPr lang="zh-TW" altLang="en-US" sz="2000" dirty="0">
                <a:solidFill>
                  <a:srgbClr val="00CC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編輯器匯出項目，並將其作為獨立遊戲在</a:t>
            </a:r>
            <a:r>
              <a:rPr lang="en-US" altLang="zh-TW" sz="2000" dirty="0">
                <a:solidFill>
                  <a:srgbClr val="00CC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Steam</a:t>
            </a:r>
            <a:r>
              <a:rPr lang="zh-TW" altLang="en-US" sz="2000" dirty="0">
                <a:solidFill>
                  <a:srgbClr val="00CC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上發布，且完全免版稅。</a:t>
            </a:r>
            <a:endParaRPr lang="en-US" altLang="zh-TW" sz="2000" dirty="0">
              <a:solidFill>
                <a:srgbClr val="00CCFF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zh-TW" altLang="en-US" sz="2000" dirty="0">
                <a:solidFill>
                  <a:srgbClr val="00CC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開發中的幀率估算器，</a:t>
            </a:r>
            <a:r>
              <a:rPr lang="en-US" altLang="zh-TW" sz="2000" dirty="0">
                <a:solidFill>
                  <a:srgbClr val="00CC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Steam </a:t>
            </a:r>
            <a:r>
              <a:rPr lang="zh-TW" altLang="en-US" sz="2000" dirty="0">
                <a:solidFill>
                  <a:srgbClr val="00CC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系統根據玩家的 </a:t>
            </a:r>
            <a:r>
              <a:rPr lang="en-US" altLang="zh-TW" sz="2000" dirty="0">
                <a:solidFill>
                  <a:srgbClr val="00CC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CPU</a:t>
            </a:r>
            <a:r>
              <a:rPr lang="zh-TW" altLang="en-US" sz="2000" dirty="0">
                <a:solidFill>
                  <a:srgbClr val="00CC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、</a:t>
            </a:r>
            <a:r>
              <a:rPr lang="en-US" altLang="zh-TW" sz="2000" dirty="0">
                <a:solidFill>
                  <a:srgbClr val="00CC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GPU </a:t>
            </a:r>
            <a:r>
              <a:rPr lang="zh-TW" altLang="en-US" sz="2000" dirty="0">
                <a:solidFill>
                  <a:srgbClr val="00CC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和記憶體數據，比對其他用戶的實際遊玩數據，在購買前預估遊戲在玩家電腦上的效能表現。</a:t>
            </a:r>
            <a:endParaRPr lang="en-US" altLang="zh-TW" sz="2000" dirty="0">
              <a:solidFill>
                <a:srgbClr val="00CCFF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457200" indent="-457200">
              <a:buFont typeface="+mj-lt"/>
              <a:buAutoNum type="arabicPeriod"/>
            </a:pPr>
            <a:endParaRPr lang="en-US" altLang="zh-TW" sz="2000" dirty="0">
              <a:solidFill>
                <a:srgbClr val="00CCFF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9632275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AF6B73-4486-90CF-AD38-38918FD0FD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F50E5D5F-BE30-BC71-3D07-604FD396D7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26CC69FB-2DBE-6060-D8DD-BFE28FBE4813}"/>
              </a:ext>
            </a:extLst>
          </p:cNvPr>
          <p:cNvSpPr txBox="1"/>
          <p:nvPr/>
        </p:nvSpPr>
        <p:spPr>
          <a:xfrm>
            <a:off x="4977745" y="1524000"/>
            <a:ext cx="223651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4000" dirty="0">
                <a:solidFill>
                  <a:srgbClr val="00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參考資料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301AEC1B-ABA0-4DB5-73CF-2E214E8DB78A}"/>
              </a:ext>
            </a:extLst>
          </p:cNvPr>
          <p:cNvSpPr txBox="1"/>
          <p:nvPr/>
        </p:nvSpPr>
        <p:spPr>
          <a:xfrm>
            <a:off x="2261923" y="2476500"/>
            <a:ext cx="7909365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400" dirty="0">
                <a:solidFill>
                  <a:srgbClr val="00CC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資料來源</a:t>
            </a:r>
            <a:r>
              <a:rPr lang="zh-TW" altLang="en-US" sz="1400" dirty="0">
                <a:solidFill>
                  <a:srgbClr val="00CC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：</a:t>
            </a:r>
            <a:r>
              <a:rPr lang="en-US" altLang="zh-TW" sz="1400" dirty="0">
                <a:solidFill>
                  <a:srgbClr val="00CC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hlinkClick r:id="rId3"/>
              </a:rPr>
              <a:t>https://www.kaggle.com/datasets/artermiloff/steam-games-dataset/data</a:t>
            </a:r>
            <a:endParaRPr lang="en-US" altLang="zh-TW" sz="1400" dirty="0">
              <a:solidFill>
                <a:srgbClr val="00CCFF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en-US" altLang="zh-TW" sz="1400" dirty="0">
              <a:solidFill>
                <a:srgbClr val="00CCFF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en-US" altLang="zh-TW" sz="2400" dirty="0">
                <a:solidFill>
                  <a:srgbClr val="00CC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steam</a:t>
            </a:r>
            <a:r>
              <a:rPr lang="zh-TW" altLang="en-US" sz="2400" dirty="0">
                <a:solidFill>
                  <a:srgbClr val="00CC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相關資料</a:t>
            </a:r>
            <a:r>
              <a:rPr lang="zh-TW" altLang="en-US" sz="1400" dirty="0">
                <a:solidFill>
                  <a:srgbClr val="00CC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：</a:t>
            </a:r>
            <a:r>
              <a:rPr lang="en-US" altLang="zh-TW" sz="1400" dirty="0">
                <a:solidFill>
                  <a:srgbClr val="00CC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hlinkClick r:id="rId4"/>
              </a:rPr>
              <a:t>https://zh.wikipedia.org/zh-tw/Steam</a:t>
            </a:r>
            <a:endParaRPr lang="en-US" altLang="zh-TW" sz="1400" dirty="0">
              <a:solidFill>
                <a:srgbClr val="00CCFF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en-US" altLang="zh-TW" sz="1400" dirty="0">
              <a:solidFill>
                <a:srgbClr val="00CCFF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en-US" altLang="zh-TW" sz="2400" dirty="0">
                <a:solidFill>
                  <a:srgbClr val="00CC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steam</a:t>
            </a:r>
            <a:r>
              <a:rPr lang="zh-TW" altLang="en-US" sz="2400" dirty="0">
                <a:solidFill>
                  <a:srgbClr val="00CC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開發者</a:t>
            </a:r>
            <a:r>
              <a:rPr lang="en-US" altLang="zh-TW" sz="2400" dirty="0">
                <a:solidFill>
                  <a:srgbClr val="00CC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Valve</a:t>
            </a:r>
            <a:r>
              <a:rPr lang="zh-TW" altLang="en-US" sz="1400" dirty="0">
                <a:solidFill>
                  <a:srgbClr val="00CC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：</a:t>
            </a:r>
            <a:r>
              <a:rPr lang="en-US" altLang="zh-TW" sz="1400" dirty="0">
                <a:solidFill>
                  <a:srgbClr val="00CC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hlinkClick r:id="rId5"/>
              </a:rPr>
              <a:t>https://zh.wikipedia.org/wiki/Valve</a:t>
            </a:r>
            <a:endParaRPr lang="en-US" altLang="zh-TW" sz="1400" dirty="0">
              <a:solidFill>
                <a:srgbClr val="00CCFF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en-US" altLang="zh-TW" sz="1400" dirty="0">
              <a:solidFill>
                <a:srgbClr val="00CCFF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2400" dirty="0">
                <a:solidFill>
                  <a:srgbClr val="00CC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使用工具：</a:t>
            </a:r>
            <a:r>
              <a:rPr lang="en-US" altLang="zh-TW" sz="2400" dirty="0">
                <a:solidFill>
                  <a:srgbClr val="00CC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Gemini</a:t>
            </a:r>
            <a:r>
              <a:rPr lang="zh-TW" altLang="en-US" sz="2400" dirty="0">
                <a:solidFill>
                  <a:srgbClr val="00CC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、</a:t>
            </a:r>
            <a:r>
              <a:rPr lang="en-US" altLang="zh-TW" sz="2400" dirty="0">
                <a:solidFill>
                  <a:srgbClr val="00CC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Bing</a:t>
            </a:r>
            <a:r>
              <a:rPr lang="zh-TW" altLang="en-US" sz="2400" dirty="0">
                <a:solidFill>
                  <a:srgbClr val="00CC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、</a:t>
            </a:r>
            <a:r>
              <a:rPr lang="en-US" altLang="zh-TW" sz="2400" dirty="0">
                <a:solidFill>
                  <a:srgbClr val="00CC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Nano Banana2</a:t>
            </a:r>
            <a:r>
              <a:rPr lang="zh-TW" altLang="en-US" sz="2400" dirty="0">
                <a:solidFill>
                  <a:srgbClr val="00CC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、</a:t>
            </a:r>
            <a:r>
              <a:rPr lang="en-US" altLang="zh-TW" sz="2400" dirty="0">
                <a:solidFill>
                  <a:srgbClr val="00CC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Python</a:t>
            </a:r>
            <a:r>
              <a:rPr lang="zh-TW" altLang="en-US" sz="2400" dirty="0">
                <a:solidFill>
                  <a:srgbClr val="00CC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、</a:t>
            </a:r>
            <a:r>
              <a:rPr lang="en-US" altLang="zh-TW" sz="2400" dirty="0">
                <a:solidFill>
                  <a:srgbClr val="00CC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Power BI</a:t>
            </a:r>
            <a:r>
              <a:rPr lang="zh-TW" altLang="en-US" sz="2400" dirty="0">
                <a:solidFill>
                  <a:srgbClr val="00CC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、</a:t>
            </a:r>
            <a:r>
              <a:rPr lang="en-US" altLang="zh-TW" sz="2400" dirty="0">
                <a:solidFill>
                  <a:srgbClr val="00CC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PowerPoint</a:t>
            </a:r>
            <a:r>
              <a:rPr lang="zh-TW" altLang="en-US" sz="2400" dirty="0">
                <a:solidFill>
                  <a:srgbClr val="00CC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、</a:t>
            </a:r>
            <a:r>
              <a:rPr lang="en-US" altLang="zh-TW" sz="2400" dirty="0">
                <a:solidFill>
                  <a:srgbClr val="00CC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VS Code</a:t>
            </a:r>
          </a:p>
          <a:p>
            <a:endParaRPr lang="zh-TW" altLang="en-US" sz="1400" dirty="0">
              <a:solidFill>
                <a:srgbClr val="00CCFF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796370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376</TotalTime>
  <Words>319</Words>
  <Application>Microsoft Office PowerPoint</Application>
  <PresentationFormat>寬螢幕</PresentationFormat>
  <Paragraphs>35</Paragraphs>
  <Slides>16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16</vt:i4>
      </vt:variant>
    </vt:vector>
  </HeadingPairs>
  <TitlesOfParts>
    <vt:vector size="21" baseType="lpstr">
      <vt:lpstr>微軟正黑體</vt:lpstr>
      <vt:lpstr>Arial</vt:lpstr>
      <vt:lpstr>Calibri</vt:lpstr>
      <vt:lpstr>Calibri Light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ZheongEric</dc:creator>
  <cp:lastModifiedBy>ZheongEric</cp:lastModifiedBy>
  <cp:revision>7</cp:revision>
  <dcterms:created xsi:type="dcterms:W3CDTF">2026-04-14T04:14:00Z</dcterms:created>
  <dcterms:modified xsi:type="dcterms:W3CDTF">2026-04-16T06:40:14Z</dcterms:modified>
</cp:coreProperties>
</file>